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9" r:id="rId2"/>
    <p:sldId id="324" r:id="rId3"/>
    <p:sldId id="327" r:id="rId4"/>
    <p:sldId id="306" r:id="rId5"/>
    <p:sldId id="326" r:id="rId6"/>
    <p:sldId id="331" r:id="rId7"/>
    <p:sldId id="333" r:id="rId8"/>
    <p:sldId id="330" r:id="rId9"/>
    <p:sldId id="329" r:id="rId10"/>
    <p:sldId id="328" r:id="rId11"/>
    <p:sldId id="332" r:id="rId12"/>
    <p:sldId id="33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>
          <p15:clr>
            <a:srgbClr val="A4A3A4"/>
          </p15:clr>
        </p15:guide>
        <p15:guide id="2" pos="378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khtur Gileg" initials="MG" lastIdx="3" clrIdx="0"/>
  <p:cmAuthor id="2" name="Mungunkhuyag Altantsooj" initials="MA" lastIdx="45" clrIdx="1"/>
  <p:cmAuthor id="3" name="Engineer" initials="E" lastIdx="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32D"/>
    <a:srgbClr val="FFFFFF"/>
    <a:srgbClr val="ED7D31"/>
    <a:srgbClr val="DF453C"/>
    <a:srgbClr val="E14A41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294" autoAdjust="0"/>
  </p:normalViewPr>
  <p:slideViewPr>
    <p:cSldViewPr snapToGrid="0">
      <p:cViewPr varScale="1">
        <p:scale>
          <a:sx n="67" d="100"/>
          <a:sy n="67" d="100"/>
        </p:scale>
        <p:origin x="1296" y="67"/>
      </p:cViewPr>
      <p:guideLst>
        <p:guide orient="horz" pos="2105"/>
        <p:guide pos="37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016AA-5530-42E1-B48A-44D588B5CEF4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7A0CF-0DE1-4A6A-B743-6419077A0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3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29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45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17C2-7456-1261-1733-3358286C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40BBE-EC33-4A7B-7686-AAA7BBB3F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BCFF9-FEF9-5D99-43DB-692C08552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D2EB3-5C40-57F9-5110-7A1168BD0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2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15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F991-6670-A8CC-C744-74A0442B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3D544-AA5B-87B9-1E6B-705625486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8CF30-C7B0-50CD-9C1C-F0B8208A8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DAAB9-5359-3859-BD5E-1F6A0286D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82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8605-3BED-671D-3BF9-0B815308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D0D72-4035-35F7-746F-EAB86F443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5EF15-FB62-7823-7F35-7CCE42454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2F612-DC77-16D9-8284-C8F415C54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8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73123-602E-4EE0-660B-5080FE30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0D968-27CB-D08A-E27C-4F537B48F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DA58F-FC05-F7A0-67DF-98CA87F39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9FF7B-171C-0E62-6355-9605CDFBF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45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C7EB-D932-FC13-6DFD-F14D8D79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6EA74-9DE1-545D-A65B-7345F6E1D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CE0AA-7148-7D4F-D926-F329A06CD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DBB0C-53F1-095F-39C9-0BDEFCA31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30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BF638-6285-4C26-0451-7FE6D888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ED703-9A52-7A8A-6278-447DC6205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1E967-67E7-0130-9D7C-F89233EBA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05EF5-B18F-4C3F-70E0-15E31ADAD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34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FBC4-C389-9083-59A2-E582093D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598C4-C775-475E-C1BB-065D28076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F7623-6FA9-B126-8198-6807EFE55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5F917-BB2E-DD1D-132E-A379F8826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31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A0D4B-A6F1-0C89-0B34-63998307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FCF21-84A1-53F8-2413-8101716B9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AF003-F7BD-3E00-6391-C26ACC8E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7E832-88D5-7B26-3ACD-9FAB6472B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18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CA939-C2AB-6D28-9772-E01D3DC6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25AB4-AE2B-048F-4852-3280B4E5F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7FA0A-E7DC-658E-A8EF-2C924AAC5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AB38D-D65F-075E-E369-E63B9FEE0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07A0CF-0DE1-4A6A-B743-6419077A0AB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95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78AD4-6E18-4F93-9AF2-52DC4FC0AB15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4FEF7-CD96-44FB-8BFF-F0D58935337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3512" y="533078"/>
            <a:ext cx="8146473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Calibri" panose="020F0502020204030204" charset="0"/>
                <a:ea typeface="Malgun Gothic" panose="020B0503020000020004" pitchFamily="50" charset="-127"/>
                <a:cs typeface="Mongolian Baiti" panose="03000500000000000000" charset="0"/>
              </a:rPr>
              <a:t>What is SDN?</a:t>
            </a:r>
            <a:endParaRPr lang="en-US" altLang="ko-KR" sz="6000" dirty="0">
              <a:latin typeface="Calibri" panose="020F0502020204030204" charset="0"/>
              <a:ea typeface="Malgun Gothic" panose="020B0503020000020004" pitchFamily="50" charset="-127"/>
              <a:cs typeface="Calibri" panose="020F050202020403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48455" y="1466215"/>
            <a:ext cx="35794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Uuganbat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 Ye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148455" y="6211669"/>
            <a:ext cx="389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05/23/2025</a:t>
            </a:r>
          </a:p>
          <a:p>
            <a:pPr lvl="1" algn="ctr"/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308350" y="1451610"/>
            <a:ext cx="5817235" cy="146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74771" y="572082"/>
            <a:ext cx="5256584" cy="720000"/>
            <a:chOff x="3131840" y="1491630"/>
            <a:chExt cx="5256584" cy="576064"/>
          </a:xfrm>
        </p:grpSpPr>
        <p:sp>
          <p:nvSpPr>
            <p:cNvPr id="5" name="Rectangle 4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Right Triangle 5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rgbClr val="DF453C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dirty="0">
                <a:solidFill>
                  <a:srgbClr val="E14A4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45361" y="2307506"/>
            <a:ext cx="5256584" cy="720000"/>
            <a:chOff x="3131840" y="1491630"/>
            <a:chExt cx="5256584" cy="576064"/>
          </a:xfrm>
        </p:grpSpPr>
        <p:sp>
          <p:nvSpPr>
            <p:cNvPr id="11" name="Rectangle 10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" name="Right Triangle 11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rgbClr val="E14A4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63261" y="3263009"/>
            <a:ext cx="5256584" cy="720000"/>
            <a:chOff x="3131840" y="1491630"/>
            <a:chExt cx="5256584" cy="576064"/>
          </a:xfrm>
        </p:grpSpPr>
        <p:sp>
          <p:nvSpPr>
            <p:cNvPr id="14" name="Rectangle 13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Right Triangle 14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80526" y="598713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361" y="2287404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996" y="3263010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483381" y="648875"/>
            <a:ext cx="4392568" cy="546224"/>
            <a:chOff x="3851840" y="1356248"/>
            <a:chExt cx="4392568" cy="546224"/>
          </a:xfrm>
        </p:grpSpPr>
        <p:sp>
          <p:nvSpPr>
            <p:cNvPr id="21" name="TextBox 20"/>
            <p:cNvSpPr txBox="1"/>
            <p:nvPr/>
          </p:nvSpPr>
          <p:spPr>
            <a:xfrm>
              <a:off x="3851840" y="1356248"/>
              <a:ext cx="439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Сүлжээний өнөөгийн байдал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465361" y="3309742"/>
            <a:ext cx="4392568" cy="576069"/>
            <a:chOff x="3851840" y="1326403"/>
            <a:chExt cx="4392568" cy="576069"/>
          </a:xfrm>
        </p:grpSpPr>
        <p:sp>
          <p:nvSpPr>
            <p:cNvPr id="30" name="TextBox 29"/>
            <p:cNvSpPr txBox="1"/>
            <p:nvPr/>
          </p:nvSpPr>
          <p:spPr>
            <a:xfrm>
              <a:off x="3851840" y="1326403"/>
              <a:ext cx="439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Hybrid SDN </a:t>
              </a:r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гэж юу бэ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?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46156" y="4119891"/>
            <a:ext cx="5256584" cy="720000"/>
            <a:chOff x="3131840" y="1491630"/>
            <a:chExt cx="5256584" cy="576064"/>
          </a:xfrm>
        </p:grpSpPr>
        <p:sp>
          <p:nvSpPr>
            <p:cNvPr id="3" name="Rectangle 10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2" name="Right Triangle 31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rgbClr val="E14A4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500526" y="4255080"/>
            <a:ext cx="4392568" cy="576069"/>
            <a:chOff x="3851840" y="1326403"/>
            <a:chExt cx="4392568" cy="576069"/>
          </a:xfrm>
        </p:grpSpPr>
        <p:sp>
          <p:nvSpPr>
            <p:cNvPr id="34" name="TextBox 29"/>
            <p:cNvSpPr txBox="1"/>
            <p:nvPr/>
          </p:nvSpPr>
          <p:spPr>
            <a:xfrm>
              <a:off x="3851840" y="1326403"/>
              <a:ext cx="439256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Яагаад 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Hybrid SDN </a:t>
              </a:r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гэж</a:t>
              </a:r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?</a:t>
              </a:r>
            </a:p>
          </p:txBody>
        </p:sp>
        <p:sp>
          <p:nvSpPr>
            <p:cNvPr id="35" name="TextBox 30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6" name="TextBox 18"/>
          <p:cNvSpPr txBox="1"/>
          <p:nvPr/>
        </p:nvSpPr>
        <p:spPr>
          <a:xfrm>
            <a:off x="745361" y="4150740"/>
            <a:ext cx="53316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  <a:r>
              <a:rPr lang="en-US" altLang="en-US" sz="2000" b="1" dirty="0">
                <a:solidFill>
                  <a:schemeClr val="bg1"/>
                </a:solidFill>
                <a:cs typeface="Mongolian Baiti" panose="03000500000000000000" charset="0"/>
              </a:rPr>
              <a:t>5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1483261" y="1750600"/>
            <a:ext cx="9854470" cy="1044632"/>
            <a:chOff x="-1610062" y="1625473"/>
            <a:chExt cx="9854470" cy="1044632"/>
          </a:xfrm>
        </p:grpSpPr>
        <p:sp>
          <p:nvSpPr>
            <p:cNvPr id="113" name="TextBox 112"/>
            <p:cNvSpPr txBox="1"/>
            <p:nvPr/>
          </p:nvSpPr>
          <p:spPr>
            <a:xfrm>
              <a:off x="-1610062" y="2271325"/>
              <a:ext cx="439256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SDN </a:t>
              </a:r>
              <a:r>
                <a:rPr lang="mn-M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архитектур</a:t>
              </a:r>
              <a:endPara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Mongolian Baiti" panose="03000500000000000000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774771" y="1419692"/>
            <a:ext cx="5256584" cy="720000"/>
            <a:chOff x="3131840" y="1491630"/>
            <a:chExt cx="5256584" cy="576064"/>
          </a:xfrm>
        </p:grpSpPr>
        <p:sp>
          <p:nvSpPr>
            <p:cNvPr id="116" name="Rectangle 115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17" name="Right Triangle 116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763261" y="1419692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1506281" y="1552401"/>
            <a:ext cx="4413378" cy="421445"/>
            <a:chOff x="3840410" y="1436438"/>
            <a:chExt cx="4413378" cy="421445"/>
          </a:xfrm>
        </p:grpSpPr>
        <p:sp>
          <p:nvSpPr>
            <p:cNvPr id="120" name="TextBox 119"/>
            <p:cNvSpPr txBox="1"/>
            <p:nvPr/>
          </p:nvSpPr>
          <p:spPr>
            <a:xfrm>
              <a:off x="3861221" y="1436438"/>
              <a:ext cx="439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SDN </a:t>
              </a:r>
              <a:r>
                <a:rPr lang="mn-M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гэж юу бэ</a:t>
              </a:r>
              <a:r>
                <a:rPr lang="en-US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?</a:t>
              </a:r>
              <a:endParaRPr lang="mn-M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Mongolian Baiti" panose="03000500000000000000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840410" y="1582293"/>
              <a:ext cx="4392568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B5DDCC-4A9D-B82E-2B03-5949F18E309B}"/>
              </a:ext>
            </a:extLst>
          </p:cNvPr>
          <p:cNvGrpSpPr/>
          <p:nvPr/>
        </p:nvGrpSpPr>
        <p:grpSpPr>
          <a:xfrm>
            <a:off x="6327561" y="568195"/>
            <a:ext cx="5256584" cy="720000"/>
            <a:chOff x="3131840" y="1491630"/>
            <a:chExt cx="5256584" cy="5760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A6D96E0-D393-99DA-897D-91413C3C21FE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EDC5DA5A-CE28-8A5F-DADA-F067452B8846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rgbClr val="DF453C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dirty="0">
                <a:solidFill>
                  <a:srgbClr val="E14A4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F0841FC-5549-066B-2879-F16C04AD1FB4}"/>
              </a:ext>
            </a:extLst>
          </p:cNvPr>
          <p:cNvGrpSpPr/>
          <p:nvPr/>
        </p:nvGrpSpPr>
        <p:grpSpPr>
          <a:xfrm>
            <a:off x="6327561" y="2330919"/>
            <a:ext cx="5256584" cy="720000"/>
            <a:chOff x="3131840" y="1491630"/>
            <a:chExt cx="5256584" cy="57606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F46D467-1836-AB4A-C639-73F3A3663573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7" name="Right Triangle 26">
              <a:extLst>
                <a:ext uri="{FF2B5EF4-FFF2-40B4-BE49-F238E27FC236}">
                  <a16:creationId xmlns:a16="http://schemas.microsoft.com/office/drawing/2014/main" id="{C4D1E75E-E9A6-BF56-1E06-83AB6968FCEE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4A8BC07-379F-45A4-1323-FBF13D9C605B}"/>
              </a:ext>
            </a:extLst>
          </p:cNvPr>
          <p:cNvSpPr txBox="1"/>
          <p:nvPr/>
        </p:nvSpPr>
        <p:spPr>
          <a:xfrm>
            <a:off x="6333316" y="594826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  <a:r>
              <a:rPr lang="mn-MN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A7D45B-AD24-4EEB-D168-00FDDBB21D85}"/>
              </a:ext>
            </a:extLst>
          </p:cNvPr>
          <p:cNvSpPr txBox="1"/>
          <p:nvPr/>
        </p:nvSpPr>
        <p:spPr>
          <a:xfrm>
            <a:off x="6335430" y="2333835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ACAC84-DE93-BFF9-2724-5A3948B7F7CA}"/>
              </a:ext>
            </a:extLst>
          </p:cNvPr>
          <p:cNvGrpSpPr/>
          <p:nvPr/>
        </p:nvGrpSpPr>
        <p:grpSpPr>
          <a:xfrm>
            <a:off x="7036171" y="644988"/>
            <a:ext cx="4392568" cy="546224"/>
            <a:chOff x="3851840" y="1356248"/>
            <a:chExt cx="4392568" cy="54622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33D620-9E4B-FFB9-19F1-5FF9A654CB6F}"/>
                </a:ext>
              </a:extLst>
            </p:cNvPr>
            <p:cNvSpPr txBox="1"/>
            <p:nvPr/>
          </p:nvSpPr>
          <p:spPr>
            <a:xfrm>
              <a:off x="3851840" y="1356248"/>
              <a:ext cx="439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Манайд тохирох боломж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Mongolian Baiti" panose="03000500000000000000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8027566-ED88-1905-16CF-FD3F1954418D}"/>
                </a:ext>
              </a:extLst>
            </p:cNvPr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DCD2BB9-6B05-3F39-5E11-2FBF656D6263}"/>
              </a:ext>
            </a:extLst>
          </p:cNvPr>
          <p:cNvGrpSpPr/>
          <p:nvPr/>
        </p:nvGrpSpPr>
        <p:grpSpPr>
          <a:xfrm>
            <a:off x="7119569" y="2434875"/>
            <a:ext cx="4392568" cy="576069"/>
            <a:chOff x="3851840" y="1326403"/>
            <a:chExt cx="4392568" cy="57606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2E0FB70-60C3-062D-4839-21E627F2CBAC}"/>
                </a:ext>
              </a:extLst>
            </p:cNvPr>
            <p:cNvSpPr txBox="1"/>
            <p:nvPr/>
          </p:nvSpPr>
          <p:spPr>
            <a:xfrm>
              <a:off x="3851840" y="1326403"/>
              <a:ext cx="439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Шаардлагатай мэдлэгүүд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1FFA9E-5D0C-9436-B951-526FFD2B290E}"/>
                </a:ext>
              </a:extLst>
            </p:cNvPr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0AB4D13-581A-4078-6F63-6480672F80FB}"/>
              </a:ext>
            </a:extLst>
          </p:cNvPr>
          <p:cNvGrpSpPr/>
          <p:nvPr/>
        </p:nvGrpSpPr>
        <p:grpSpPr>
          <a:xfrm>
            <a:off x="6287826" y="3291056"/>
            <a:ext cx="5256584" cy="720000"/>
            <a:chOff x="3131840" y="1491630"/>
            <a:chExt cx="5256584" cy="576064"/>
          </a:xfrm>
        </p:grpSpPr>
        <p:sp>
          <p:nvSpPr>
            <p:cNvPr id="46" name="Rectangle 10">
              <a:extLst>
                <a:ext uri="{FF2B5EF4-FFF2-40B4-BE49-F238E27FC236}">
                  <a16:creationId xmlns:a16="http://schemas.microsoft.com/office/drawing/2014/main" id="{8C6C01EF-7217-DA52-113A-9AE73D12E48F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7" name="Right Triangle 46">
              <a:extLst>
                <a:ext uri="{FF2B5EF4-FFF2-40B4-BE49-F238E27FC236}">
                  <a16:creationId xmlns:a16="http://schemas.microsoft.com/office/drawing/2014/main" id="{7F66F4BB-C347-1727-CFEE-DCB0E3841E25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rgbClr val="E14A4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7B0559F-2CB5-5E93-60F4-515BEF71C7D8}"/>
              </a:ext>
            </a:extLst>
          </p:cNvPr>
          <p:cNvGrpSpPr/>
          <p:nvPr/>
        </p:nvGrpSpPr>
        <p:grpSpPr>
          <a:xfrm>
            <a:off x="7119568" y="3463065"/>
            <a:ext cx="4392568" cy="576069"/>
            <a:chOff x="3851840" y="1326403"/>
            <a:chExt cx="4392568" cy="576069"/>
          </a:xfrm>
        </p:grpSpPr>
        <p:sp>
          <p:nvSpPr>
            <p:cNvPr id="49" name="TextBox 29">
              <a:extLst>
                <a:ext uri="{FF2B5EF4-FFF2-40B4-BE49-F238E27FC236}">
                  <a16:creationId xmlns:a16="http://schemas.microsoft.com/office/drawing/2014/main" id="{1DD90AB2-A56D-1BE2-F731-5407D8EE22E9}"/>
                </a:ext>
              </a:extLst>
            </p:cNvPr>
            <p:cNvSpPr txBox="1"/>
            <p:nvPr/>
          </p:nvSpPr>
          <p:spPr>
            <a:xfrm>
              <a:off x="3851840" y="1326403"/>
              <a:ext cx="439256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Mongolian Baiti" panose="03000500000000000000" charset="0"/>
                </a:rPr>
                <a:t>Дүгнэлт, дараагийн алхам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Mongolian Baiti" panose="03000500000000000000" charset="0"/>
              </a:endParaRPr>
            </a:p>
          </p:txBody>
        </p:sp>
        <p:sp>
          <p:nvSpPr>
            <p:cNvPr id="50" name="TextBox 30">
              <a:extLst>
                <a:ext uri="{FF2B5EF4-FFF2-40B4-BE49-F238E27FC236}">
                  <a16:creationId xmlns:a16="http://schemas.microsoft.com/office/drawing/2014/main" id="{F1791BF1-A3CE-55F2-FD35-7F36B7052F48}"/>
                </a:ext>
              </a:extLst>
            </p:cNvPr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1" name="TextBox 18">
            <a:extLst>
              <a:ext uri="{FF2B5EF4-FFF2-40B4-BE49-F238E27FC236}">
                <a16:creationId xmlns:a16="http://schemas.microsoft.com/office/drawing/2014/main" id="{DA5562FD-6AB6-D162-70A6-A7A1FCED509F}"/>
              </a:ext>
            </a:extLst>
          </p:cNvPr>
          <p:cNvSpPr txBox="1"/>
          <p:nvPr/>
        </p:nvSpPr>
        <p:spPr>
          <a:xfrm>
            <a:off x="6293446" y="3290976"/>
            <a:ext cx="53316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09</a:t>
            </a:r>
            <a:endParaRPr lang="en-US" altLang="en-US" sz="2000" b="1" dirty="0">
              <a:solidFill>
                <a:schemeClr val="bg1"/>
              </a:solidFill>
              <a:cs typeface="Mongolian Baiti" panose="03000500000000000000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9B6E644-B553-5A53-C273-72DEFABC517E}"/>
              </a:ext>
            </a:extLst>
          </p:cNvPr>
          <p:cNvGrpSpPr/>
          <p:nvPr/>
        </p:nvGrpSpPr>
        <p:grpSpPr>
          <a:xfrm>
            <a:off x="6327561" y="1415805"/>
            <a:ext cx="5256584" cy="720000"/>
            <a:chOff x="3131840" y="1491630"/>
            <a:chExt cx="5256584" cy="57606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925079F-BCAF-0601-3461-5BCD401E4D0E}"/>
                </a:ext>
              </a:extLst>
            </p:cNvPr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B2B32935-42C5-4D58-AFD1-63824D93816A}"/>
                </a:ext>
              </a:extLst>
            </p:cNvPr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23E0AEE-1785-123D-8847-3B83D8EB39C1}"/>
              </a:ext>
            </a:extLst>
          </p:cNvPr>
          <p:cNvSpPr txBox="1"/>
          <p:nvPr/>
        </p:nvSpPr>
        <p:spPr>
          <a:xfrm>
            <a:off x="6316051" y="1415805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  <a:r>
              <a:rPr lang="mn-MN" altLang="ko-KR" sz="2000" b="1" dirty="0">
                <a:solidFill>
                  <a:schemeClr val="bg1"/>
                </a:solidFill>
                <a:cs typeface="Arial" panose="020B0604020202020204" pitchFamily="34" charset="0"/>
              </a:rPr>
              <a:t>7</a:t>
            </a:r>
            <a:endParaRPr lang="ko-KR" altLang="en-US" sz="20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0E0814-15A3-F3CE-A2AE-ED85F8C5793E}"/>
              </a:ext>
            </a:extLst>
          </p:cNvPr>
          <p:cNvGrpSpPr/>
          <p:nvPr/>
        </p:nvGrpSpPr>
        <p:grpSpPr>
          <a:xfrm>
            <a:off x="7059071" y="1501869"/>
            <a:ext cx="4401867" cy="468090"/>
            <a:chOff x="3840410" y="1389793"/>
            <a:chExt cx="4401867" cy="46809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95271FE-EB6F-4BDA-1C3D-A5BD42CDE676}"/>
                </a:ext>
              </a:extLst>
            </p:cNvPr>
            <p:cNvSpPr txBox="1"/>
            <p:nvPr/>
          </p:nvSpPr>
          <p:spPr>
            <a:xfrm>
              <a:off x="3849710" y="1389793"/>
              <a:ext cx="4392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mn-MN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Нэвтрүүлэлтийн үе шат</a:t>
              </a:r>
              <a:endPara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DAE28FE-5274-C3E2-1A20-3C46595CD494}"/>
                </a:ext>
              </a:extLst>
            </p:cNvPr>
            <p:cNvSpPr txBox="1"/>
            <p:nvPr/>
          </p:nvSpPr>
          <p:spPr>
            <a:xfrm>
              <a:off x="3840410" y="1582293"/>
              <a:ext cx="4392568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D7474-2E80-3DAC-0EE4-C8521723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4833-DED2-13FE-A657-5CB38AC8CD1C}"/>
              </a:ext>
            </a:extLst>
          </p:cNvPr>
          <p:cNvSpPr txBox="1">
            <a:spLocks/>
          </p:cNvSpPr>
          <p:nvPr/>
        </p:nvSpPr>
        <p:spPr>
          <a:xfrm>
            <a:off x="-859536" y="-251904"/>
            <a:ext cx="8309610" cy="8797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dirty="0"/>
              <a:t>Сүлжээний өнөөгийн байдал</a:t>
            </a: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F49D7485-1B81-AD43-A85A-D415261A6F7E}"/>
              </a:ext>
            </a:extLst>
          </p:cNvPr>
          <p:cNvSpPr/>
          <p:nvPr/>
        </p:nvSpPr>
        <p:spPr>
          <a:xfrm>
            <a:off x="886720" y="1350112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D3B6DE1D-DF45-1109-C0FF-A21561730212}"/>
              </a:ext>
            </a:extLst>
          </p:cNvPr>
          <p:cNvSpPr/>
          <p:nvPr/>
        </p:nvSpPr>
        <p:spPr>
          <a:xfrm>
            <a:off x="3517062" y="1350112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914DD81B-AC62-8567-91C0-A1A7C0BB596C}"/>
              </a:ext>
            </a:extLst>
          </p:cNvPr>
          <p:cNvSpPr/>
          <p:nvPr/>
        </p:nvSpPr>
        <p:spPr>
          <a:xfrm>
            <a:off x="6147404" y="1298354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7359B806-1E17-E78D-3C1B-A178D07B651C}"/>
              </a:ext>
            </a:extLst>
          </p:cNvPr>
          <p:cNvSpPr/>
          <p:nvPr/>
        </p:nvSpPr>
        <p:spPr>
          <a:xfrm>
            <a:off x="8777746" y="1298354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F7040615-034C-E0B3-779F-FFB0EB234EAF}"/>
              </a:ext>
            </a:extLst>
          </p:cNvPr>
          <p:cNvSpPr txBox="1"/>
          <p:nvPr/>
        </p:nvSpPr>
        <p:spPr>
          <a:xfrm>
            <a:off x="1100575" y="1535024"/>
            <a:ext cx="942079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54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0DC5D3AA-F699-11C6-A48B-B0246B89BC6B}"/>
              </a:ext>
            </a:extLst>
          </p:cNvPr>
          <p:cNvSpPr/>
          <p:nvPr/>
        </p:nvSpPr>
        <p:spPr>
          <a:xfrm>
            <a:off x="7519004" y="1982287"/>
            <a:ext cx="1248758" cy="1866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C1D2B72E-10FB-FABB-E383-7BEB86B9801A}"/>
              </a:ext>
            </a:extLst>
          </p:cNvPr>
          <p:cNvSpPr/>
          <p:nvPr/>
        </p:nvSpPr>
        <p:spPr>
          <a:xfrm flipV="1">
            <a:off x="4898646" y="2005394"/>
            <a:ext cx="1248758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AutoShape 19">
            <a:extLst>
              <a:ext uri="{FF2B5EF4-FFF2-40B4-BE49-F238E27FC236}">
                <a16:creationId xmlns:a16="http://schemas.microsoft.com/office/drawing/2014/main" id="{2E953C38-D242-AA7B-C029-2D129FD257D7}"/>
              </a:ext>
            </a:extLst>
          </p:cNvPr>
          <p:cNvSpPr/>
          <p:nvPr/>
        </p:nvSpPr>
        <p:spPr>
          <a:xfrm flipV="1">
            <a:off x="2295082" y="1984153"/>
            <a:ext cx="12219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308FA083-759D-9202-F1BD-05572EB50341}"/>
              </a:ext>
            </a:extLst>
          </p:cNvPr>
          <p:cNvSpPr txBox="1"/>
          <p:nvPr/>
        </p:nvSpPr>
        <p:spPr>
          <a:xfrm>
            <a:off x="3731822" y="1533157"/>
            <a:ext cx="942079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54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1FCAD9AF-E5D7-F045-CF36-E7B54A1C96F4}"/>
              </a:ext>
            </a:extLst>
          </p:cNvPr>
          <p:cNvSpPr txBox="1"/>
          <p:nvPr/>
        </p:nvSpPr>
        <p:spPr>
          <a:xfrm>
            <a:off x="6362164" y="1533156"/>
            <a:ext cx="942079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54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05E5116-CA83-7E4A-B475-20E636F48167}"/>
              </a:ext>
            </a:extLst>
          </p:cNvPr>
          <p:cNvSpPr txBox="1"/>
          <p:nvPr/>
        </p:nvSpPr>
        <p:spPr>
          <a:xfrm>
            <a:off x="8992506" y="1533155"/>
            <a:ext cx="942079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54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DB200A-5790-FC8A-4507-6D938AC2B8F0}"/>
              </a:ext>
            </a:extLst>
          </p:cNvPr>
          <p:cNvSpPr txBox="1"/>
          <p:nvPr/>
        </p:nvSpPr>
        <p:spPr>
          <a:xfrm>
            <a:off x="457405" y="2935960"/>
            <a:ext cx="2228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Static Config</a:t>
            </a:r>
            <a:r>
              <a:rPr lang="mn-MN" sz="2000" dirty="0"/>
              <a:t>, төхөөрөмж тус бүр дээр тохиргоо хийх шаардлага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7AAF6B-C0B7-4729-73BC-82C762E756E7}"/>
              </a:ext>
            </a:extLst>
          </p:cNvPr>
          <p:cNvSpPr txBox="1"/>
          <p:nvPr/>
        </p:nvSpPr>
        <p:spPr>
          <a:xfrm>
            <a:off x="3248512" y="2967087"/>
            <a:ext cx="20550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sz="2000" dirty="0"/>
              <a:t>Хяналт, өөрчлөлт хийхэд хугацаа их шаардагдана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8BEDE4-38F1-4642-2B39-0A92D0C6CCF0}"/>
              </a:ext>
            </a:extLst>
          </p:cNvPr>
          <p:cNvSpPr txBox="1"/>
          <p:nvPr/>
        </p:nvSpPr>
        <p:spPr>
          <a:xfrm>
            <a:off x="5957393" y="2933660"/>
            <a:ext cx="19086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sz="2000" dirty="0"/>
              <a:t>Алдаа гарах магадлал өндөр (</a:t>
            </a:r>
            <a:r>
              <a:rPr lang="en-US" sz="2000" dirty="0"/>
              <a:t>human error)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B301FA-4E52-4516-67F1-8FBFDACF49B3}"/>
              </a:ext>
            </a:extLst>
          </p:cNvPr>
          <p:cNvSpPr txBox="1"/>
          <p:nvPr/>
        </p:nvSpPr>
        <p:spPr>
          <a:xfrm>
            <a:off x="8349336" y="2872610"/>
            <a:ext cx="23674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sz="2000" dirty="0"/>
              <a:t>Томоохон өөрчлөлт хийхэд олон инженер хэрэг болдог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226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BC7B0B-6C8A-EBF4-45A6-130E77163B42}"/>
              </a:ext>
            </a:extLst>
          </p:cNvPr>
          <p:cNvSpPr txBox="1"/>
          <p:nvPr/>
        </p:nvSpPr>
        <p:spPr>
          <a:xfrm>
            <a:off x="524256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SDN </a:t>
            </a:r>
            <a:r>
              <a:rPr lang="mn-MN" sz="3600" dirty="0"/>
              <a:t>гэж юу вэ?</a:t>
            </a:r>
            <a:endParaRPr lang="en-US" sz="3600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2E4AECD-DAB9-9127-8ACB-9013C0CEFB74}"/>
              </a:ext>
            </a:extLst>
          </p:cNvPr>
          <p:cNvSpPr/>
          <p:nvPr/>
        </p:nvSpPr>
        <p:spPr>
          <a:xfrm>
            <a:off x="623909" y="1810739"/>
            <a:ext cx="3789595" cy="3236522"/>
          </a:xfrm>
          <a:custGeom>
            <a:avLst/>
            <a:gdLst/>
            <a:ahLst/>
            <a:cxnLst/>
            <a:rect l="l" t="t" r="r" b="b"/>
            <a:pathLst>
              <a:path w="6988487" h="5595357">
                <a:moveTo>
                  <a:pt x="0" y="0"/>
                </a:moveTo>
                <a:lnTo>
                  <a:pt x="6988488" y="0"/>
                </a:lnTo>
                <a:lnTo>
                  <a:pt x="6988488" y="5595358"/>
                </a:lnTo>
                <a:lnTo>
                  <a:pt x="0" y="5595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B8EE8-71C5-B94B-4513-B13E00595D09}"/>
              </a:ext>
            </a:extLst>
          </p:cNvPr>
          <p:cNvSpPr txBox="1"/>
          <p:nvPr/>
        </p:nvSpPr>
        <p:spPr>
          <a:xfrm>
            <a:off x="2013204" y="813036"/>
            <a:ext cx="81655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Software Defined Networking (SDN): </a:t>
            </a:r>
            <a:r>
              <a:rPr lang="mn-MN" sz="2400" dirty="0"/>
              <a:t>сүлжээг төвлөрсөн програмчлалаар удирдах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2A982-7A23-F447-32BD-ACDB19352CAA}"/>
              </a:ext>
            </a:extLst>
          </p:cNvPr>
          <p:cNvSpPr txBox="1"/>
          <p:nvPr/>
        </p:nvSpPr>
        <p:spPr>
          <a:xfrm>
            <a:off x="4636008" y="3831789"/>
            <a:ext cx="666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Control plane &amp; Data plane-</a:t>
            </a:r>
            <a:r>
              <a:rPr lang="mn-MN" dirty="0"/>
              <a:t>г тусгаарлаж, төв удирдлагийн системээр удирддаг.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B4613-E89D-543E-6043-6D91C98EBDA5}"/>
              </a:ext>
            </a:extLst>
          </p:cNvPr>
          <p:cNvSpPr txBox="1"/>
          <p:nvPr/>
        </p:nvSpPr>
        <p:spPr>
          <a:xfrm>
            <a:off x="4636008" y="20398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dirty="0"/>
              <a:t>Уламжлалт сүлжээнд “</a:t>
            </a:r>
            <a:r>
              <a:rPr lang="en-US" dirty="0"/>
              <a:t>Control plane” </a:t>
            </a:r>
            <a:r>
              <a:rPr lang="mn-MN" dirty="0"/>
              <a:t>ба “</a:t>
            </a:r>
            <a:r>
              <a:rPr lang="en-US" dirty="0"/>
              <a:t>Data plane” </a:t>
            </a:r>
            <a:r>
              <a:rPr lang="mn-MN" dirty="0"/>
              <a:t>нэг төхөөрөмж дээр байдаг.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97848-1EB5-245A-E4F9-36898F7EA3FE}"/>
              </a:ext>
            </a:extLst>
          </p:cNvPr>
          <p:cNvSpPr txBox="1"/>
          <p:nvPr/>
        </p:nvSpPr>
        <p:spPr>
          <a:xfrm>
            <a:off x="4636008" y="30835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dirty="0"/>
              <a:t>Харин </a:t>
            </a:r>
            <a:r>
              <a:rPr lang="en-US" dirty="0"/>
              <a:t>SDN-</a:t>
            </a:r>
            <a:r>
              <a:rPr lang="mn-MN" dirty="0"/>
              <a:t>д </a:t>
            </a:r>
            <a:r>
              <a:rPr lang="en-US" dirty="0"/>
              <a:t>Control Plane-</a:t>
            </a:r>
            <a:r>
              <a:rPr lang="mn-MN" dirty="0"/>
              <a:t>г тусад нь төвлөрүүлдэг.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8D8D86-370C-8CF3-63C8-DF933C5455D5}"/>
              </a:ext>
            </a:extLst>
          </p:cNvPr>
          <p:cNvSpPr txBox="1"/>
          <p:nvPr/>
        </p:nvSpPr>
        <p:spPr>
          <a:xfrm>
            <a:off x="4636008" y="48570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mn-MN" dirty="0"/>
              <a:t>Ингэснээр удирдлагыг төвлөрүүлж, автоматжуулалт хийх боломжтой болдог.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49F5A-07F5-9BB9-B1F4-59E93046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F8E7-879A-B06F-1248-F90979FD1FFF}"/>
              </a:ext>
            </a:extLst>
          </p:cNvPr>
          <p:cNvSpPr txBox="1">
            <a:spLocks/>
          </p:cNvSpPr>
          <p:nvPr/>
        </p:nvSpPr>
        <p:spPr>
          <a:xfrm>
            <a:off x="0" y="-85344"/>
            <a:ext cx="4194048" cy="6617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SDN </a:t>
            </a:r>
            <a:r>
              <a:rPr lang="mn-MN" sz="3600" dirty="0"/>
              <a:t>Архитектур</a:t>
            </a:r>
          </a:p>
        </p:txBody>
      </p:sp>
      <p:pic>
        <p:nvPicPr>
          <p:cNvPr id="1026" name="Picture 2" descr="What is Software Defined Networking (SDN)?">
            <a:extLst>
              <a:ext uri="{FF2B5EF4-FFF2-40B4-BE49-F238E27FC236}">
                <a16:creationId xmlns:a16="http://schemas.microsoft.com/office/drawing/2014/main" id="{305D3D5D-525F-237C-38F5-F41F75D9C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84" y="1588961"/>
            <a:ext cx="5825836" cy="3360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936F4C-E257-6B7B-9D14-4A8D5918D001}"/>
              </a:ext>
            </a:extLst>
          </p:cNvPr>
          <p:cNvSpPr txBox="1"/>
          <p:nvPr/>
        </p:nvSpPr>
        <p:spPr>
          <a:xfrm>
            <a:off x="6189382" y="1789952"/>
            <a:ext cx="5825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Application Layer</a:t>
            </a:r>
            <a:r>
              <a:rPr lang="en-US" sz="2000" dirty="0"/>
              <a:t> — Policy, route</a:t>
            </a:r>
            <a:r>
              <a:rPr lang="mn-MN" sz="2000" dirty="0"/>
              <a:t>, автоматжуулалт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09C0F-61D9-B685-07C7-4DE12A3031F7}"/>
              </a:ext>
            </a:extLst>
          </p:cNvPr>
          <p:cNvSpPr txBox="1"/>
          <p:nvPr/>
        </p:nvSpPr>
        <p:spPr>
          <a:xfrm>
            <a:off x="6189382" y="2701157"/>
            <a:ext cx="5222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Control Layer</a:t>
            </a:r>
            <a:r>
              <a:rPr lang="en-US" sz="2000" dirty="0"/>
              <a:t> — SDN controller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AB2DC-0DBA-870C-D4B4-75FC69CEEEA7}"/>
              </a:ext>
            </a:extLst>
          </p:cNvPr>
          <p:cNvSpPr txBox="1"/>
          <p:nvPr/>
        </p:nvSpPr>
        <p:spPr>
          <a:xfrm>
            <a:off x="6189382" y="3612362"/>
            <a:ext cx="5222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Infrastructure Layer</a:t>
            </a:r>
            <a:r>
              <a:rPr lang="en-US" sz="2000" dirty="0"/>
              <a:t> — Switch, router, firewall </a:t>
            </a:r>
            <a:r>
              <a:rPr lang="mn-MN" sz="2000" dirty="0"/>
              <a:t>зэрэг төхөөрөмжүүд.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9200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5453E-9AA4-CB25-DC6B-70E384067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F191-C02C-556C-1B6D-D42F8C45475C}"/>
              </a:ext>
            </a:extLst>
          </p:cNvPr>
          <p:cNvSpPr txBox="1">
            <a:spLocks/>
          </p:cNvSpPr>
          <p:nvPr/>
        </p:nvSpPr>
        <p:spPr>
          <a:xfrm>
            <a:off x="-566928" y="-571500"/>
            <a:ext cx="645566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Hybrid SDN </a:t>
            </a:r>
            <a:r>
              <a:rPr lang="mn-MN" sz="3600" dirty="0"/>
              <a:t>гэж юу вэ?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78225-413C-1A45-9B4E-1F9F6079D0BA}"/>
              </a:ext>
            </a:extLst>
          </p:cNvPr>
          <p:cNvSpPr txBox="1"/>
          <p:nvPr/>
        </p:nvSpPr>
        <p:spPr>
          <a:xfrm>
            <a:off x="1514094" y="739078"/>
            <a:ext cx="9515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Hybrid SDN </a:t>
            </a:r>
            <a:r>
              <a:rPr lang="mn-MN" sz="2400" dirty="0"/>
              <a:t>нь </a:t>
            </a:r>
            <a:r>
              <a:rPr lang="en-US" sz="2400" dirty="0"/>
              <a:t>SDN </a:t>
            </a:r>
            <a:r>
              <a:rPr lang="mn-MN" sz="2400" dirty="0"/>
              <a:t>ба уламжлалт сүлжээг зэрэг ажиллуулах боломжтой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20E6E-C8A9-0C1F-79C1-460E11E7E00F}"/>
              </a:ext>
            </a:extLst>
          </p:cNvPr>
          <p:cNvSpPr txBox="1"/>
          <p:nvPr/>
        </p:nvSpPr>
        <p:spPr>
          <a:xfrm>
            <a:off x="5654040" y="2270978"/>
            <a:ext cx="6382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2000" dirty="0"/>
              <a:t>Бүх сүлжээг шууд </a:t>
            </a:r>
            <a:r>
              <a:rPr lang="en-US" sz="2000" dirty="0"/>
              <a:t>SDN </a:t>
            </a:r>
            <a:r>
              <a:rPr lang="mn-MN" sz="2000" dirty="0"/>
              <a:t>болгож болохгүй тохиолдолд зарим хэсгийг л </a:t>
            </a:r>
            <a:r>
              <a:rPr lang="en-US" sz="2000" dirty="0"/>
              <a:t>SDN-</a:t>
            </a:r>
            <a:r>
              <a:rPr lang="mn-MN" sz="2000" dirty="0"/>
              <a:t>д оруулж туршиж болно.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06470-60CD-53EC-B615-7C73D961AABC}"/>
              </a:ext>
            </a:extLst>
          </p:cNvPr>
          <p:cNvSpPr txBox="1"/>
          <p:nvPr/>
        </p:nvSpPr>
        <p:spPr>
          <a:xfrm>
            <a:off x="5654040" y="4006596"/>
            <a:ext cx="6382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2000" dirty="0"/>
              <a:t>Шинэ тоног төхөөрөмжийг </a:t>
            </a:r>
            <a:r>
              <a:rPr lang="en-US" sz="2000" dirty="0"/>
              <a:t>SDN controller-</a:t>
            </a:r>
            <a:r>
              <a:rPr lang="mn-MN" sz="2000" dirty="0"/>
              <a:t>т холбож, хуучин төхөөрөмжүүдийг хэвээр үлдээж болно.</a:t>
            </a:r>
            <a:endParaRPr lang="en-US" sz="2000" dirty="0"/>
          </a:p>
        </p:txBody>
      </p:sp>
      <p:pic>
        <p:nvPicPr>
          <p:cNvPr id="2050" name="Picture 2" descr="Routing Performance Evaluation of a Multi-Domain Hybrid SDN for Its  Implementation in Carrier Grade ISP Networks">
            <a:extLst>
              <a:ext uri="{FF2B5EF4-FFF2-40B4-BE49-F238E27FC236}">
                <a16:creationId xmlns:a16="http://schemas.microsoft.com/office/drawing/2014/main" id="{075FBB24-AA86-B6F1-155A-B855F590D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46" y="2050482"/>
            <a:ext cx="505936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64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03189-F877-B82F-99DA-D650EABA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6BB09317-4393-76C8-E5B0-70D0F9A3150F}"/>
              </a:ext>
            </a:extLst>
          </p:cNvPr>
          <p:cNvSpPr/>
          <p:nvPr/>
        </p:nvSpPr>
        <p:spPr>
          <a:xfrm rot="-5400000">
            <a:off x="2000796" y="3356758"/>
            <a:ext cx="8190407" cy="3657593"/>
          </a:xfrm>
          <a:custGeom>
            <a:avLst/>
            <a:gdLst/>
            <a:ahLst/>
            <a:cxnLst/>
            <a:rect l="l" t="t" r="r" b="b"/>
            <a:pathLst>
              <a:path w="9074405" h="4174226">
                <a:moveTo>
                  <a:pt x="0" y="0"/>
                </a:moveTo>
                <a:lnTo>
                  <a:pt x="9074405" y="0"/>
                </a:lnTo>
                <a:lnTo>
                  <a:pt x="9074405" y="4174227"/>
                </a:lnTo>
                <a:lnTo>
                  <a:pt x="0" y="4174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D3BBB370-EA3D-5FE7-DA29-6EEF278DFD92}"/>
              </a:ext>
            </a:extLst>
          </p:cNvPr>
          <p:cNvSpPr/>
          <p:nvPr/>
        </p:nvSpPr>
        <p:spPr>
          <a:xfrm rot="-5400000">
            <a:off x="6158265" y="3218492"/>
            <a:ext cx="8190407" cy="3657593"/>
          </a:xfrm>
          <a:custGeom>
            <a:avLst/>
            <a:gdLst/>
            <a:ahLst/>
            <a:cxnLst/>
            <a:rect l="l" t="t" r="r" b="b"/>
            <a:pathLst>
              <a:path w="9074405" h="4174226">
                <a:moveTo>
                  <a:pt x="0" y="0"/>
                </a:moveTo>
                <a:lnTo>
                  <a:pt x="9074405" y="0"/>
                </a:lnTo>
                <a:lnTo>
                  <a:pt x="9074405" y="4174227"/>
                </a:lnTo>
                <a:lnTo>
                  <a:pt x="0" y="4174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71389-4AD9-A32E-FF8A-19DCC7F3D232}"/>
              </a:ext>
            </a:extLst>
          </p:cNvPr>
          <p:cNvSpPr txBox="1">
            <a:spLocks/>
          </p:cNvSpPr>
          <p:nvPr/>
        </p:nvSpPr>
        <p:spPr>
          <a:xfrm>
            <a:off x="371856" y="-170688"/>
            <a:ext cx="6321552" cy="783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dirty="0"/>
              <a:t>Яагаад </a:t>
            </a:r>
            <a:r>
              <a:rPr lang="en-US" sz="3600" dirty="0"/>
              <a:t>Hybrid SDN </a:t>
            </a:r>
            <a:r>
              <a:rPr lang="mn-MN" sz="3600" dirty="0"/>
              <a:t>хэрэгтэй вэ?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27F414AD-E7AE-CCC7-D334-90E393BD430B}"/>
              </a:ext>
            </a:extLst>
          </p:cNvPr>
          <p:cNvSpPr/>
          <p:nvPr/>
        </p:nvSpPr>
        <p:spPr>
          <a:xfrm rot="-5400000">
            <a:off x="-1926161" y="3388979"/>
            <a:ext cx="8190407" cy="3657593"/>
          </a:xfrm>
          <a:custGeom>
            <a:avLst/>
            <a:gdLst/>
            <a:ahLst/>
            <a:cxnLst/>
            <a:rect l="l" t="t" r="r" b="b"/>
            <a:pathLst>
              <a:path w="9074405" h="4174226">
                <a:moveTo>
                  <a:pt x="0" y="0"/>
                </a:moveTo>
                <a:lnTo>
                  <a:pt x="9074405" y="0"/>
                </a:lnTo>
                <a:lnTo>
                  <a:pt x="9074405" y="4174227"/>
                </a:lnTo>
                <a:lnTo>
                  <a:pt x="0" y="4174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56084FA4-7630-14AC-6A70-276B7EF6C3F0}"/>
              </a:ext>
            </a:extLst>
          </p:cNvPr>
          <p:cNvSpPr/>
          <p:nvPr/>
        </p:nvSpPr>
        <p:spPr>
          <a:xfrm>
            <a:off x="9522733" y="1648173"/>
            <a:ext cx="1461470" cy="1849961"/>
          </a:xfrm>
          <a:custGeom>
            <a:avLst/>
            <a:gdLst/>
            <a:ahLst/>
            <a:cxnLst/>
            <a:rect l="l" t="t" r="r" b="b"/>
            <a:pathLst>
              <a:path w="1461470" h="1849961">
                <a:moveTo>
                  <a:pt x="0" y="0"/>
                </a:moveTo>
                <a:lnTo>
                  <a:pt x="1461469" y="0"/>
                </a:lnTo>
                <a:lnTo>
                  <a:pt x="1461469" y="1849961"/>
                </a:lnTo>
                <a:lnTo>
                  <a:pt x="0" y="1849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5851AC15-8BAA-7FF5-32DA-8975EFF04780}"/>
              </a:ext>
            </a:extLst>
          </p:cNvPr>
          <p:cNvSpPr/>
          <p:nvPr/>
        </p:nvSpPr>
        <p:spPr>
          <a:xfrm>
            <a:off x="1449577" y="1721439"/>
            <a:ext cx="1222079" cy="1695370"/>
          </a:xfrm>
          <a:custGeom>
            <a:avLst/>
            <a:gdLst/>
            <a:ahLst/>
            <a:cxnLst/>
            <a:rect l="l" t="t" r="r" b="b"/>
            <a:pathLst>
              <a:path w="1222079" h="1695370">
                <a:moveTo>
                  <a:pt x="0" y="0"/>
                </a:moveTo>
                <a:lnTo>
                  <a:pt x="1222079" y="0"/>
                </a:lnTo>
                <a:lnTo>
                  <a:pt x="1222079" y="1695370"/>
                </a:lnTo>
                <a:lnTo>
                  <a:pt x="0" y="1695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F4121C0-C174-FEEC-CAE4-48304AEC1F6D}"/>
              </a:ext>
            </a:extLst>
          </p:cNvPr>
          <p:cNvSpPr/>
          <p:nvPr/>
        </p:nvSpPr>
        <p:spPr>
          <a:xfrm>
            <a:off x="5386770" y="1640224"/>
            <a:ext cx="1418460" cy="1695370"/>
          </a:xfrm>
          <a:custGeom>
            <a:avLst/>
            <a:gdLst/>
            <a:ahLst/>
            <a:cxnLst/>
            <a:rect l="l" t="t" r="r" b="b"/>
            <a:pathLst>
              <a:path w="1418460" h="1695370">
                <a:moveTo>
                  <a:pt x="0" y="0"/>
                </a:moveTo>
                <a:lnTo>
                  <a:pt x="1418460" y="0"/>
                </a:lnTo>
                <a:lnTo>
                  <a:pt x="1418460" y="1695370"/>
                </a:lnTo>
                <a:lnTo>
                  <a:pt x="0" y="1695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52AA3-8159-352B-A7C3-E3DF08AD866D}"/>
              </a:ext>
            </a:extLst>
          </p:cNvPr>
          <p:cNvSpPr txBox="1"/>
          <p:nvPr/>
        </p:nvSpPr>
        <p:spPr>
          <a:xfrm>
            <a:off x="657235" y="3732112"/>
            <a:ext cx="30236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sz="2000" dirty="0"/>
              <a:t>Хуучин сүлжээг бүрэн сольж шинэчлэхгүйгээр шинэ технологи турших боломж.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FC386F-937F-C551-69D4-11DB0D65C013}"/>
              </a:ext>
            </a:extLst>
          </p:cNvPr>
          <p:cNvSpPr txBox="1"/>
          <p:nvPr/>
        </p:nvSpPr>
        <p:spPr>
          <a:xfrm>
            <a:off x="4553145" y="3732112"/>
            <a:ext cx="30857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sz="2000" dirty="0"/>
              <a:t>Аюулгүй байдлыг хадгалж, алдаа багатайгаар шилжих боломжтой.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559E1-1880-7CE8-F35A-44B40DC73E85}"/>
              </a:ext>
            </a:extLst>
          </p:cNvPr>
          <p:cNvSpPr txBox="1"/>
          <p:nvPr/>
        </p:nvSpPr>
        <p:spPr>
          <a:xfrm>
            <a:off x="8676299" y="3732112"/>
            <a:ext cx="31754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sz="2000" dirty="0"/>
              <a:t>Шинэчлэлийн ашиг тусыг шууд мэдрэх боломжтой. (жишээ нь: </a:t>
            </a:r>
            <a:r>
              <a:rPr lang="en-US" sz="2000" dirty="0"/>
              <a:t>monitoring, automation)</a:t>
            </a:r>
          </a:p>
        </p:txBody>
      </p:sp>
    </p:spTree>
    <p:extLst>
      <p:ext uri="{BB962C8B-B14F-4D97-AF65-F5344CB8AC3E}">
        <p14:creationId xmlns:p14="http://schemas.microsoft.com/office/powerpoint/2010/main" val="51936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0CFDB-FAF4-BD47-988F-B66CBBD3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8FF35-B643-E0B2-8CA4-7D63E3416A94}"/>
              </a:ext>
            </a:extLst>
          </p:cNvPr>
          <p:cNvSpPr txBox="1"/>
          <p:nvPr/>
        </p:nvSpPr>
        <p:spPr>
          <a:xfrm>
            <a:off x="42672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3600" dirty="0">
                <a:latin typeface="+mj-lt"/>
              </a:rPr>
              <a:t>Манайд тохирох боломж</a:t>
            </a: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A8511-16DF-2EA4-4176-D8A9134DF13E}"/>
              </a:ext>
            </a:extLst>
          </p:cNvPr>
          <p:cNvSpPr txBox="1"/>
          <p:nvPr/>
        </p:nvSpPr>
        <p:spPr>
          <a:xfrm>
            <a:off x="6973824" y="1110044"/>
            <a:ext cx="4791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Edge network</a:t>
            </a:r>
            <a:r>
              <a:rPr lang="en-US" dirty="0"/>
              <a:t> </a:t>
            </a:r>
            <a:r>
              <a:rPr lang="mn-MN" dirty="0"/>
              <a:t>буюу хэрэглэгчтэй ойрхон хэсэгт </a:t>
            </a:r>
            <a:r>
              <a:rPr lang="en-US" dirty="0"/>
              <a:t>SDN </a:t>
            </a:r>
            <a:r>
              <a:rPr lang="mn-MN" dirty="0"/>
              <a:t>шийдлийг эхэлж турших.</a:t>
            </a:r>
            <a:endParaRPr lang="en-US" dirty="0"/>
          </a:p>
        </p:txBody>
      </p:sp>
      <p:pic>
        <p:nvPicPr>
          <p:cNvPr id="3074" name="Picture 2" descr="Hybrid SDN evolution: A comprehensive survey of the state-of-the-art -  ScienceDirect">
            <a:extLst>
              <a:ext uri="{FF2B5EF4-FFF2-40B4-BE49-F238E27FC236}">
                <a16:creationId xmlns:a16="http://schemas.microsoft.com/office/drawing/2014/main" id="{D9594A10-84E8-E24D-CD07-944024336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" y="1110044"/>
            <a:ext cx="645795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97D507-A6D4-D7C5-DE54-6E571F1CBC25}"/>
              </a:ext>
            </a:extLst>
          </p:cNvPr>
          <p:cNvSpPr txBox="1"/>
          <p:nvPr/>
        </p:nvSpPr>
        <p:spPr>
          <a:xfrm>
            <a:off x="6973824" y="1994612"/>
            <a:ext cx="5010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NMS (Network Monitoring System), ACL, telemetry </a:t>
            </a:r>
            <a:r>
              <a:rPr lang="mn-MN" dirty="0"/>
              <a:t>зэрэг удирдлагын системүүдийг </a:t>
            </a:r>
            <a:r>
              <a:rPr lang="en-US" dirty="0"/>
              <a:t>SDN controller </a:t>
            </a:r>
            <a:r>
              <a:rPr lang="mn-MN" dirty="0"/>
              <a:t>руу шилжүүлэх.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A1203-DFD9-97DC-52ED-8ECA20EAB958}"/>
              </a:ext>
            </a:extLst>
          </p:cNvPr>
          <p:cNvSpPr txBox="1"/>
          <p:nvPr/>
        </p:nvSpPr>
        <p:spPr>
          <a:xfrm>
            <a:off x="6973824" y="3293728"/>
            <a:ext cx="5010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dirty="0"/>
              <a:t>Зарим тоног төхөөрөмж </a:t>
            </a:r>
            <a:r>
              <a:rPr lang="en-US" dirty="0"/>
              <a:t>REST API, NETCONF </a:t>
            </a:r>
            <a:r>
              <a:rPr lang="mn-MN" dirty="0"/>
              <a:t>дэмждэг бол </a:t>
            </a:r>
            <a:r>
              <a:rPr lang="en-US" dirty="0"/>
              <a:t>SDN-</a:t>
            </a:r>
            <a:r>
              <a:rPr lang="mn-MN" dirty="0"/>
              <a:t>тай холбох боломжтой.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4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E4885-5015-CE74-60EB-B7064425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14E7-01E0-F75B-9B35-137D19D21EB1}"/>
              </a:ext>
            </a:extLst>
          </p:cNvPr>
          <p:cNvSpPr txBox="1">
            <a:spLocks/>
          </p:cNvSpPr>
          <p:nvPr/>
        </p:nvSpPr>
        <p:spPr>
          <a:xfrm>
            <a:off x="-103632" y="-97536"/>
            <a:ext cx="5711952" cy="698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dirty="0"/>
              <a:t>Нэвтрүүлэлтийн үе шат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3B37D4B5-B3C5-86F6-E75B-753514663474}"/>
              </a:ext>
            </a:extLst>
          </p:cNvPr>
          <p:cNvSpPr/>
          <p:nvPr/>
        </p:nvSpPr>
        <p:spPr>
          <a:xfrm>
            <a:off x="460000" y="79865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B7E5BD25-9B71-23E2-D8CE-D40B4A839366}"/>
              </a:ext>
            </a:extLst>
          </p:cNvPr>
          <p:cNvSpPr txBox="1"/>
          <p:nvPr/>
        </p:nvSpPr>
        <p:spPr>
          <a:xfrm>
            <a:off x="646194" y="845515"/>
            <a:ext cx="770612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48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581B2E46-D2B6-84A6-46D5-CD0B8ABB15B9}"/>
              </a:ext>
            </a:extLst>
          </p:cNvPr>
          <p:cNvSpPr/>
          <p:nvPr/>
        </p:nvSpPr>
        <p:spPr>
          <a:xfrm>
            <a:off x="460000" y="194165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65461622-1370-E07D-C147-5235E34F86F6}"/>
              </a:ext>
            </a:extLst>
          </p:cNvPr>
          <p:cNvSpPr/>
          <p:nvPr/>
        </p:nvSpPr>
        <p:spPr>
          <a:xfrm>
            <a:off x="460000" y="308465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A3C0CFF7-69BB-C1F4-C1E5-272D3A64DF1E}"/>
              </a:ext>
            </a:extLst>
          </p:cNvPr>
          <p:cNvSpPr/>
          <p:nvPr/>
        </p:nvSpPr>
        <p:spPr>
          <a:xfrm>
            <a:off x="451352" y="422765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E7F861B8-64A9-DEF1-E7EE-036BA59B9DF2}"/>
              </a:ext>
            </a:extLst>
          </p:cNvPr>
          <p:cNvSpPr/>
          <p:nvPr/>
        </p:nvSpPr>
        <p:spPr>
          <a:xfrm>
            <a:off x="442704" y="5370659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B50FBB00-D4E2-C4DE-BE9D-D45BB788F748}"/>
              </a:ext>
            </a:extLst>
          </p:cNvPr>
          <p:cNvSpPr txBox="1"/>
          <p:nvPr/>
        </p:nvSpPr>
        <p:spPr>
          <a:xfrm>
            <a:off x="673112" y="1988515"/>
            <a:ext cx="770612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48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94743063-578A-E1FE-12B2-0F6A9C1F3675}"/>
              </a:ext>
            </a:extLst>
          </p:cNvPr>
          <p:cNvSpPr txBox="1"/>
          <p:nvPr/>
        </p:nvSpPr>
        <p:spPr>
          <a:xfrm>
            <a:off x="646194" y="3148750"/>
            <a:ext cx="770612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48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CA80095-D3A7-5F17-CE4C-12459F0D6DE7}"/>
              </a:ext>
            </a:extLst>
          </p:cNvPr>
          <p:cNvSpPr txBox="1"/>
          <p:nvPr/>
        </p:nvSpPr>
        <p:spPr>
          <a:xfrm>
            <a:off x="673112" y="4291750"/>
            <a:ext cx="770612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48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FC6B5EAE-D7F5-3381-2FD9-74D39ADDBEA7}"/>
              </a:ext>
            </a:extLst>
          </p:cNvPr>
          <p:cNvSpPr txBox="1"/>
          <p:nvPr/>
        </p:nvSpPr>
        <p:spPr>
          <a:xfrm>
            <a:off x="673112" y="5434750"/>
            <a:ext cx="770612" cy="8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4800" dirty="0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1B6A7-E737-1AE8-A596-0B64E1D9BC5B}"/>
              </a:ext>
            </a:extLst>
          </p:cNvPr>
          <p:cNvSpPr txBox="1"/>
          <p:nvPr/>
        </p:nvSpPr>
        <p:spPr>
          <a:xfrm>
            <a:off x="1789194" y="1150219"/>
            <a:ext cx="6982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mn-MN" sz="2400" dirty="0"/>
              <a:t>Сүлжээг шинжлэх (ямар хэсгийг </a:t>
            </a:r>
            <a:r>
              <a:rPr lang="en-US" sz="2400" dirty="0"/>
              <a:t>SDN </a:t>
            </a:r>
            <a:r>
              <a:rPr lang="mn-MN" sz="2400" dirty="0"/>
              <a:t>болгох вэ?).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FCEED0-913B-E231-845C-E4CEADC829C6}"/>
              </a:ext>
            </a:extLst>
          </p:cNvPr>
          <p:cNvSpPr txBox="1"/>
          <p:nvPr/>
        </p:nvSpPr>
        <p:spPr>
          <a:xfrm>
            <a:off x="1789194" y="2282326"/>
            <a:ext cx="7726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GNS3/EVE-NG </a:t>
            </a:r>
            <a:r>
              <a:rPr lang="mn-MN" sz="2400" dirty="0"/>
              <a:t>ашиглан туршилтын орчин байгуулах.</a:t>
            </a:r>
            <a:endParaRPr lang="en-US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41C177-2602-000C-C5F8-69E5D1C7680C}"/>
              </a:ext>
            </a:extLst>
          </p:cNvPr>
          <p:cNvSpPr txBox="1"/>
          <p:nvPr/>
        </p:nvSpPr>
        <p:spPr>
          <a:xfrm>
            <a:off x="1789194" y="3367046"/>
            <a:ext cx="9756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Proof-of-Concept: </a:t>
            </a:r>
            <a:r>
              <a:rPr lang="mn-MN" sz="2400" dirty="0"/>
              <a:t>маш бага хүрээнд бодитоор ажиллах эсэхийг турших.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6954A5-1B25-2D64-4565-3674CFC525FD}"/>
              </a:ext>
            </a:extLst>
          </p:cNvPr>
          <p:cNvSpPr txBox="1"/>
          <p:nvPr/>
        </p:nvSpPr>
        <p:spPr>
          <a:xfrm>
            <a:off x="1789194" y="4510046"/>
            <a:ext cx="5148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Edge </a:t>
            </a:r>
            <a:r>
              <a:rPr lang="mn-MN" sz="2400" dirty="0"/>
              <a:t>хэсэг дээр хэрэгжүүлж эхлэх.</a:t>
            </a:r>
            <a:endParaRPr lang="en-US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08334C-C91E-7452-E7C7-D9DF4A11124F}"/>
              </a:ext>
            </a:extLst>
          </p:cNvPr>
          <p:cNvSpPr txBox="1"/>
          <p:nvPr/>
        </p:nvSpPr>
        <p:spPr>
          <a:xfrm>
            <a:off x="1789194" y="5711326"/>
            <a:ext cx="8336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Core network </a:t>
            </a:r>
            <a:r>
              <a:rPr lang="mn-MN" sz="2400" dirty="0"/>
              <a:t>буюу төв сүлжээнд үе шаттайгаар нэвтрүүлэх.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5202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E3DCA-9C0E-EA76-E5EA-B09D55D5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What is Python Coding? | Juni Learning">
            <a:extLst>
              <a:ext uri="{FF2B5EF4-FFF2-40B4-BE49-F238E27FC236}">
                <a16:creationId xmlns:a16="http://schemas.microsoft.com/office/drawing/2014/main" id="{7CED7E53-41C6-4828-AD2C-E70EF40B7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22" y="1783349"/>
            <a:ext cx="1258824" cy="125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AB5298-8EF1-AE80-021B-F58742E26394}"/>
              </a:ext>
            </a:extLst>
          </p:cNvPr>
          <p:cNvSpPr txBox="1">
            <a:spLocks/>
          </p:cNvSpPr>
          <p:nvPr/>
        </p:nvSpPr>
        <p:spPr>
          <a:xfrm>
            <a:off x="213360" y="0"/>
            <a:ext cx="5419344" cy="6373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dirty="0"/>
              <a:t>Шаардлагатай мэдлэгүүд</a:t>
            </a:r>
          </a:p>
        </p:txBody>
      </p:sp>
      <p:pic>
        <p:nvPicPr>
          <p:cNvPr id="4098" name="Picture 2" descr="Cisco CCNA 200-301 | Accredited Institute of Information Technology - South  Africa">
            <a:extLst>
              <a:ext uri="{FF2B5EF4-FFF2-40B4-BE49-F238E27FC236}">
                <a16:creationId xmlns:a16="http://schemas.microsoft.com/office/drawing/2014/main" id="{D13A07F8-831C-BAAD-1831-CCC14C74C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79" y="940927"/>
            <a:ext cx="1013110" cy="101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YAML ❤️ JSON - Visual Studio Marketplace">
            <a:extLst>
              <a:ext uri="{FF2B5EF4-FFF2-40B4-BE49-F238E27FC236}">
                <a16:creationId xmlns:a16="http://schemas.microsoft.com/office/drawing/2014/main" id="{EC914BF6-15DE-D1D1-497E-D5FBD26F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47" y="3100036"/>
            <a:ext cx="832373" cy="83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Linux - Wikipedia">
            <a:extLst>
              <a:ext uri="{FF2B5EF4-FFF2-40B4-BE49-F238E27FC236}">
                <a16:creationId xmlns:a16="http://schemas.microsoft.com/office/drawing/2014/main" id="{1097828E-E3AA-FF1E-0510-C0007BD13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88" y="4188172"/>
            <a:ext cx="808890" cy="95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nsible: Working with Variables and Hostvars | by Sebastian | Medium">
            <a:extLst>
              <a:ext uri="{FF2B5EF4-FFF2-40B4-BE49-F238E27FC236}">
                <a16:creationId xmlns:a16="http://schemas.microsoft.com/office/drawing/2014/main" id="{6B7B0264-C07C-E692-EA66-D91642853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60" y="5357180"/>
            <a:ext cx="910345" cy="111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F536DF-3096-19C5-5F11-33BDAD8FE54B}"/>
              </a:ext>
            </a:extLst>
          </p:cNvPr>
          <p:cNvSpPr txBox="1"/>
          <p:nvPr/>
        </p:nvSpPr>
        <p:spPr>
          <a:xfrm>
            <a:off x="2194560" y="12166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CCNA </a:t>
            </a:r>
            <a:r>
              <a:rPr lang="mn-MN" sz="2400" dirty="0"/>
              <a:t>түвшний сүлжээний ойлголт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26382-5D1B-BD92-5A52-0377294390F4}"/>
              </a:ext>
            </a:extLst>
          </p:cNvPr>
          <p:cNvSpPr txBox="1"/>
          <p:nvPr/>
        </p:nvSpPr>
        <p:spPr>
          <a:xfrm>
            <a:off x="2194560" y="2228095"/>
            <a:ext cx="7894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mn-MN" sz="2400" dirty="0"/>
              <a:t>Программчлалын дунд шат (</a:t>
            </a:r>
            <a:r>
              <a:rPr lang="en-US" sz="2400" dirty="0"/>
              <a:t>Python, REST API call, script)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6771EA-36E1-0D0E-529A-BE31B6571BDD}"/>
              </a:ext>
            </a:extLst>
          </p:cNvPr>
          <p:cNvSpPr txBox="1"/>
          <p:nvPr/>
        </p:nvSpPr>
        <p:spPr>
          <a:xfrm>
            <a:off x="2194560" y="3331556"/>
            <a:ext cx="6644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JSON, YAML </a:t>
            </a:r>
            <a:r>
              <a:rPr lang="mn-MN" sz="2400" dirty="0"/>
              <a:t>форматаар </a:t>
            </a:r>
            <a:r>
              <a:rPr lang="en-US" sz="2400" dirty="0"/>
              <a:t>config </a:t>
            </a:r>
            <a:r>
              <a:rPr lang="mn-MN" sz="2400" dirty="0"/>
              <a:t>бичих чадвар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A7ABE-8DF0-0FD7-0813-D6F0F627DFC4}"/>
              </a:ext>
            </a:extLst>
          </p:cNvPr>
          <p:cNvSpPr txBox="1"/>
          <p:nvPr/>
        </p:nvSpPr>
        <p:spPr>
          <a:xfrm>
            <a:off x="2194560" y="4482557"/>
            <a:ext cx="6120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Linux </a:t>
            </a:r>
            <a:r>
              <a:rPr lang="mn-MN" sz="2400" dirty="0"/>
              <a:t>систем дээр ажиллах суурь мэдлэг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4CE21-E252-89CE-77C2-97CBF78153AD}"/>
              </a:ext>
            </a:extLst>
          </p:cNvPr>
          <p:cNvSpPr txBox="1"/>
          <p:nvPr/>
        </p:nvSpPr>
        <p:spPr>
          <a:xfrm>
            <a:off x="2194560" y="5632435"/>
            <a:ext cx="6120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Ansible, </a:t>
            </a:r>
            <a:r>
              <a:rPr lang="en-US" sz="2400" dirty="0" err="1"/>
              <a:t>Netmiko</a:t>
            </a:r>
            <a:r>
              <a:rPr lang="en-US" sz="2400" dirty="0"/>
              <a:t>, NAPALM automation tools</a:t>
            </a:r>
          </a:p>
        </p:txBody>
      </p:sp>
    </p:spTree>
    <p:extLst>
      <p:ext uri="{BB962C8B-B14F-4D97-AF65-F5344CB8AC3E}">
        <p14:creationId xmlns:p14="http://schemas.microsoft.com/office/powerpoint/2010/main" val="197594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0B5E2-698C-A47E-BA18-3AF11A4D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A3163D-A6A4-9C53-00BF-42CC7438FCBF}"/>
              </a:ext>
            </a:extLst>
          </p:cNvPr>
          <p:cNvSpPr txBox="1">
            <a:spLocks/>
          </p:cNvSpPr>
          <p:nvPr/>
        </p:nvSpPr>
        <p:spPr>
          <a:xfrm>
            <a:off x="-164592" y="-158496"/>
            <a:ext cx="6370320" cy="6861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mn-MN" sz="3600" dirty="0"/>
              <a:t>Дүгнэлт, дараагийн алхам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82E7CA-3656-D0E5-35CC-B9A38A0DDADC}"/>
              </a:ext>
            </a:extLst>
          </p:cNvPr>
          <p:cNvSpPr txBox="1">
            <a:spLocks/>
          </p:cNvSpPr>
          <p:nvPr/>
        </p:nvSpPr>
        <p:spPr>
          <a:xfrm>
            <a:off x="2217282" y="3983076"/>
            <a:ext cx="9235440" cy="928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Python </a:t>
            </a:r>
            <a:r>
              <a:rPr lang="mn-MN" dirty="0"/>
              <a:t>ашиглан </a:t>
            </a:r>
            <a:r>
              <a:rPr lang="en-US" dirty="0"/>
              <a:t>config </a:t>
            </a:r>
            <a:r>
              <a:rPr lang="mn-MN" dirty="0"/>
              <a:t>хийх, </a:t>
            </a:r>
            <a:r>
              <a:rPr lang="en-US" dirty="0"/>
              <a:t>SDN controller </a:t>
            </a:r>
            <a:r>
              <a:rPr lang="mn-MN" dirty="0"/>
              <a:t>ашиглан сүлжээг төвлөрүүлэн хянах.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67BCE90-03CA-41D1-2090-8AF68A29FA90}"/>
              </a:ext>
            </a:extLst>
          </p:cNvPr>
          <p:cNvSpPr/>
          <p:nvPr/>
        </p:nvSpPr>
        <p:spPr>
          <a:xfrm>
            <a:off x="522171" y="1111176"/>
            <a:ext cx="1695111" cy="1605209"/>
          </a:xfrm>
          <a:custGeom>
            <a:avLst/>
            <a:gdLst/>
            <a:ahLst/>
            <a:cxnLst/>
            <a:rect l="l" t="t" r="r" b="b"/>
            <a:pathLst>
              <a:path w="3497870" h="3497870">
                <a:moveTo>
                  <a:pt x="0" y="0"/>
                </a:moveTo>
                <a:lnTo>
                  <a:pt x="3497870" y="0"/>
                </a:lnTo>
                <a:lnTo>
                  <a:pt x="3497870" y="3497870"/>
                </a:lnTo>
                <a:lnTo>
                  <a:pt x="0" y="349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1F121B4A-BC76-74D3-5F4C-8674B3DDA103}"/>
              </a:ext>
            </a:extLst>
          </p:cNvPr>
          <p:cNvSpPr txBox="1"/>
          <p:nvPr/>
        </p:nvSpPr>
        <p:spPr>
          <a:xfrm>
            <a:off x="987128" y="1217856"/>
            <a:ext cx="765198" cy="1032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146"/>
              </a:lnSpc>
              <a:spcBef>
                <a:spcPct val="0"/>
              </a:spcBef>
            </a:pPr>
            <a:r>
              <a:rPr lang="en-US" sz="4400" dirty="0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A5B1818D-66E0-5BDE-C620-E820BFBCA6ED}"/>
              </a:ext>
            </a:extLst>
          </p:cNvPr>
          <p:cNvSpPr/>
          <p:nvPr/>
        </p:nvSpPr>
        <p:spPr>
          <a:xfrm>
            <a:off x="1752326" y="2250767"/>
            <a:ext cx="1695111" cy="1605209"/>
          </a:xfrm>
          <a:custGeom>
            <a:avLst/>
            <a:gdLst/>
            <a:ahLst/>
            <a:cxnLst/>
            <a:rect l="l" t="t" r="r" b="b"/>
            <a:pathLst>
              <a:path w="3497870" h="3497870">
                <a:moveTo>
                  <a:pt x="0" y="0"/>
                </a:moveTo>
                <a:lnTo>
                  <a:pt x="3497870" y="0"/>
                </a:lnTo>
                <a:lnTo>
                  <a:pt x="3497870" y="3497870"/>
                </a:lnTo>
                <a:lnTo>
                  <a:pt x="0" y="349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FCE88A60-D4D1-3179-0822-83227B81BEC0}"/>
              </a:ext>
            </a:extLst>
          </p:cNvPr>
          <p:cNvSpPr txBox="1"/>
          <p:nvPr/>
        </p:nvSpPr>
        <p:spPr>
          <a:xfrm>
            <a:off x="2217283" y="2357447"/>
            <a:ext cx="765198" cy="1032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146"/>
              </a:lnSpc>
              <a:spcBef>
                <a:spcPct val="0"/>
              </a:spcBef>
            </a:pPr>
            <a:r>
              <a:rPr lang="en-US" sz="4400" dirty="0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C1BFA63A-5A32-6509-A69F-5E76BA3BD5BB}"/>
              </a:ext>
            </a:extLst>
          </p:cNvPr>
          <p:cNvSpPr/>
          <p:nvPr/>
        </p:nvSpPr>
        <p:spPr>
          <a:xfrm>
            <a:off x="522171" y="3390358"/>
            <a:ext cx="1695111" cy="1605209"/>
          </a:xfrm>
          <a:custGeom>
            <a:avLst/>
            <a:gdLst/>
            <a:ahLst/>
            <a:cxnLst/>
            <a:rect l="l" t="t" r="r" b="b"/>
            <a:pathLst>
              <a:path w="3497870" h="3497870">
                <a:moveTo>
                  <a:pt x="0" y="0"/>
                </a:moveTo>
                <a:lnTo>
                  <a:pt x="3497870" y="0"/>
                </a:lnTo>
                <a:lnTo>
                  <a:pt x="3497870" y="3497870"/>
                </a:lnTo>
                <a:lnTo>
                  <a:pt x="0" y="349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D5659F75-E8E3-65E0-7C11-0ED7C285F934}"/>
              </a:ext>
            </a:extLst>
          </p:cNvPr>
          <p:cNvSpPr txBox="1"/>
          <p:nvPr/>
        </p:nvSpPr>
        <p:spPr>
          <a:xfrm>
            <a:off x="987128" y="3497038"/>
            <a:ext cx="765198" cy="1032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146"/>
              </a:lnSpc>
              <a:spcBef>
                <a:spcPct val="0"/>
              </a:spcBef>
            </a:pPr>
            <a:r>
              <a:rPr lang="en-US" sz="4400" dirty="0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62BDA-8B3D-490F-0221-F6B270F1A991}"/>
              </a:ext>
            </a:extLst>
          </p:cNvPr>
          <p:cNvSpPr txBox="1"/>
          <p:nvPr/>
        </p:nvSpPr>
        <p:spPr>
          <a:xfrm>
            <a:off x="2346960" y="1318813"/>
            <a:ext cx="9235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SDN </a:t>
            </a:r>
            <a:r>
              <a:rPr lang="mn-MN" sz="2400" dirty="0"/>
              <a:t>бол сүлжээний ирээдүй, </a:t>
            </a:r>
            <a:r>
              <a:rPr lang="en-US" sz="2400" dirty="0"/>
              <a:t>Hybrid </a:t>
            </a:r>
            <a:r>
              <a:rPr lang="mn-MN" sz="2400" dirty="0"/>
              <a:t>загвар бол эхлэхэд хамгийн зөв алхам.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64D48-94FE-F64D-33C5-8BD5E79B1E5D}"/>
              </a:ext>
            </a:extLst>
          </p:cNvPr>
          <p:cNvSpPr txBox="1"/>
          <p:nvPr/>
        </p:nvSpPr>
        <p:spPr>
          <a:xfrm>
            <a:off x="3485250" y="2598003"/>
            <a:ext cx="8097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GNS3 </a:t>
            </a:r>
            <a:r>
              <a:rPr lang="mn-MN" sz="2400" dirty="0"/>
              <a:t>дээр туршилтаа хийсэн бол </a:t>
            </a:r>
            <a:r>
              <a:rPr lang="en-US" sz="2400" dirty="0"/>
              <a:t>PoC-</a:t>
            </a:r>
            <a:r>
              <a:rPr lang="mn-MN" sz="2400" dirty="0"/>
              <a:t>г 2 сарын дотор хийх боломжтой</a:t>
            </a:r>
          </a:p>
        </p:txBody>
      </p:sp>
    </p:spTree>
    <p:extLst>
      <p:ext uri="{BB962C8B-B14F-4D97-AF65-F5344CB8AC3E}">
        <p14:creationId xmlns:p14="http://schemas.microsoft.com/office/powerpoint/2010/main" val="1057736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379D7-F678-E319-8D6F-77D95E1B1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94F32F-87C7-D90A-6385-D626BBC7C330}"/>
              </a:ext>
            </a:extLst>
          </p:cNvPr>
          <p:cNvSpPr/>
          <p:nvPr/>
        </p:nvSpPr>
        <p:spPr>
          <a:xfrm>
            <a:off x="2143512" y="533078"/>
            <a:ext cx="8146473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>
                <a:latin typeface="Calibri" panose="020F0502020204030204" charset="0"/>
                <a:ea typeface="Malgun Gothic" panose="020B0503020000020004" pitchFamily="50" charset="-127"/>
                <a:cs typeface="Mongolian Baiti" panose="03000500000000000000" charset="0"/>
              </a:rPr>
              <a:t>What is SDN?</a:t>
            </a:r>
            <a:endParaRPr lang="en-US" altLang="ko-KR" sz="6000" dirty="0">
              <a:latin typeface="Calibri" panose="020F0502020204030204" charset="0"/>
              <a:ea typeface="Malgun Gothic" panose="020B0503020000020004" pitchFamily="50" charset="-127"/>
              <a:cs typeface="Calibri" panose="020F050202020403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0301E-01F1-877B-F0B9-2F894158BDDB}"/>
              </a:ext>
            </a:extLst>
          </p:cNvPr>
          <p:cNvSpPr/>
          <p:nvPr/>
        </p:nvSpPr>
        <p:spPr>
          <a:xfrm>
            <a:off x="4148455" y="1466215"/>
            <a:ext cx="35794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Uuganbat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 Ye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EDCA985-4032-82DD-2B0E-E77628ECD1F1}"/>
              </a:ext>
            </a:extLst>
          </p:cNvPr>
          <p:cNvSpPr txBox="1"/>
          <p:nvPr/>
        </p:nvSpPr>
        <p:spPr>
          <a:xfrm>
            <a:off x="4148455" y="6211669"/>
            <a:ext cx="389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05/23/2025</a:t>
            </a:r>
          </a:p>
          <a:p>
            <a:pPr lvl="1" algn="ctr"/>
            <a:r>
              <a:rPr lang="en-US" altLang="ko-KR" dirty="0">
                <a:latin typeface="Calibri" panose="020F0502020204030204" charset="0"/>
                <a:ea typeface="Malgun Gothic" panose="020B0503020000020004" pitchFamily="50" charset="-127"/>
                <a:cs typeface="Calibri" panose="020F0502020204030204" charset="0"/>
                <a:sym typeface="+mn-ea"/>
              </a:rPr>
              <a:t>TS/IPTND/IPND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B60CF4-7154-9043-B01D-BA16CFC139E1}"/>
              </a:ext>
            </a:extLst>
          </p:cNvPr>
          <p:cNvCxnSpPr/>
          <p:nvPr/>
        </p:nvCxnSpPr>
        <p:spPr>
          <a:xfrm flipV="1">
            <a:off x="3308350" y="1451610"/>
            <a:ext cx="5817235" cy="146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27784B-1D08-68C6-A091-D9CC029F6C3B}"/>
              </a:ext>
            </a:extLst>
          </p:cNvPr>
          <p:cNvSpPr txBox="1"/>
          <p:nvPr/>
        </p:nvSpPr>
        <p:spPr>
          <a:xfrm>
            <a:off x="2588794" y="2446100"/>
            <a:ext cx="7014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Thanks for attention</a:t>
            </a:r>
          </a:p>
        </p:txBody>
      </p:sp>
    </p:spTree>
    <p:extLst>
      <p:ext uri="{BB962C8B-B14F-4D97-AF65-F5344CB8AC3E}">
        <p14:creationId xmlns:p14="http://schemas.microsoft.com/office/powerpoint/2010/main" val="11649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e6994b-0242-4364-83db-a7727f7d5359}" enabled="1" method="Standard" siteId="{ca63e652-8b2e-4e0e-8b69-1fd46774bd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9099</TotalTime>
  <Words>545</Words>
  <Application>Microsoft Office PowerPoint</Application>
  <PresentationFormat>Widescreen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Computer Says No</vt:lpstr>
      <vt:lpstr>Mongolian Baiti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Nairamdal Battulga</dc:creator>
  <cp:lastModifiedBy>Spinhx 001</cp:lastModifiedBy>
  <cp:revision>781</cp:revision>
  <dcterms:created xsi:type="dcterms:W3CDTF">2021-05-04T02:15:00Z</dcterms:created>
  <dcterms:modified xsi:type="dcterms:W3CDTF">2025-05-23T02:02:10Z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553B9E08311C4F45BFA0209E6117689A</vt:lpwstr>
  </property>
  <property fmtid="{D5CDD505-2E9C-101B-9397-08002B2CF9AE}" pid="3" name="KSOProductBuildVer">
    <vt:lpwstr>1033-11.2.0.11417</vt:lpwstr>
  </property>
</Properties>
</file>